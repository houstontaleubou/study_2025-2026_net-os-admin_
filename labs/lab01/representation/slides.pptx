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2.png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Талебу Тенке Франк Устон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2025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Лабораторная работа №01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Лабораторная работа №01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Цель работы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Приобретение практических навыков администрирования сетевых подсистем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Перед началом работы с Vagrant создадим каталог для проекта </a:t>
            </a:r>
            <a:r>
              <a:rPr b="1">
                <a:latin typeface="Courier"/>
              </a:rPr>
              <a:t>C:workuserpacker</a:t>
            </a:r>
            <a:r>
              <a:rPr b="1"/>
              <a:t> и </a:t>
            </a:r>
            <a:r>
              <a:rPr b="1">
                <a:latin typeface="Courier"/>
              </a:rPr>
              <a:t>C:workuservagrant</a:t>
            </a:r>
            <a:r>
              <a:rPr b="1"/>
              <a:t> (рис. @fig-1).</a:t>
            </a:r>
          </a:p>
        </p:txBody>
      </p:sp>
      <p:pic>
        <p:nvPicPr>
          <p:cNvPr descr="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35100"/>
            <a:ext cx="82296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 созданном рабочем каталоге разместим образ операционной системы Rocky Linux. В этом практикуме используется образ </a:t>
            </a:r>
            <a:r>
              <a:rPr b="1">
                <a:latin typeface="Courier"/>
              </a:rPr>
              <a:t>Rocky-9.2-x86_64minimal.iso</a:t>
            </a:r>
            <a:r>
              <a:rPr b="1"/>
              <a:t>. В этом же каталоге разместим подготовленные заранее для работы с Vagrant файлы и создадим каталог </a:t>
            </a:r>
            <a:r>
              <a:rPr b="1">
                <a:latin typeface="Courier"/>
              </a:rPr>
              <a:t>provision</a:t>
            </a:r>
            <a:r>
              <a:rPr b="1"/>
              <a:t> с подкаталогами </a:t>
            </a:r>
            <a:r>
              <a:rPr b="1">
                <a:latin typeface="Courier"/>
              </a:rPr>
              <a:t>default</a:t>
            </a:r>
            <a:r>
              <a:rPr b="1"/>
              <a:t>, </a:t>
            </a:r>
            <a:r>
              <a:rPr b="1">
                <a:latin typeface="Courier"/>
              </a:rPr>
              <a:t>server</a:t>
            </a:r>
            <a:r>
              <a:rPr b="1"/>
              <a:t> и </a:t>
            </a:r>
            <a:r>
              <a:rPr b="1">
                <a:latin typeface="Courier"/>
              </a:rPr>
              <a:t>client</a:t>
            </a:r>
            <a:r>
              <a:rPr b="1"/>
              <a:t>, в которых будут размещаться скрипты, изменяющие настройки внутреннего окружения базового образа виртуальной машины, сервера или клиента соответственно (рис. @fig-2).</a:t>
            </a:r>
          </a:p>
        </p:txBody>
      </p:sp>
      <p:pic>
        <p:nvPicPr>
          <p:cNvPr descr="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31900" y="1193800"/>
            <a:ext cx="6667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2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Для отработки созданных скриптов во время загрузки виртуальных машин убедимся, что в конфигурационном файле </a:t>
            </a:r>
            <a:r>
              <a:rPr b="1">
                <a:latin typeface="Courier"/>
              </a:rPr>
              <a:t>Vagrantfile</a:t>
            </a:r>
            <a:r>
              <a:rPr b="1"/>
              <a:t> до строк с конфигурацией сервера имеется определённая запись (рис. @fig-3).</a:t>
            </a:r>
          </a:p>
        </p:txBody>
      </p:sp>
      <p:pic>
        <p:nvPicPr>
          <p:cNvPr descr="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51200" y="1193800"/>
            <a:ext cx="26543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3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Зафиксируем внесённые изменения для внутренних настроек виртуальных машин, введя в терминале команды </a:t>
            </a:r>
            <a:r>
              <a:rPr b="1">
                <a:latin typeface="Courier"/>
              </a:rPr>
              <a:t>make server-provision</a:t>
            </a:r>
            <a:r>
              <a:rPr b="1"/>
              <a:t> (рис. @fig-4) и затем </a:t>
            </a:r>
            <a:r>
              <a:rPr b="1">
                <a:latin typeface="Courier"/>
              </a:rPr>
              <a:t>make client-provision</a:t>
            </a:r>
            <a:r>
              <a:rPr b="1"/>
              <a:t> (рис. @fig-5).</a:t>
            </a:r>
          </a:p>
        </p:txBody>
      </p:sp>
      <p:pic>
        <p:nvPicPr>
          <p:cNvPr descr="4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663700" y="1193800"/>
            <a:ext cx="5816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4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№5</a:t>
            </a:r>
          </a:p>
        </p:txBody>
      </p:sp>
      <p:pic>
        <p:nvPicPr>
          <p:cNvPr descr="5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47800"/>
            <a:ext cx="8229600" cy="2387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Залогинимся на сервере (рис. @fig-6) и клиенте (рис. @fig-7) под созданным пользователем </a:t>
            </a:r>
            <a:r>
              <a:rPr b="1">
                <a:latin typeface="Courier"/>
              </a:rPr>
              <a:t>user</a:t>
            </a:r>
            <a:r>
              <a:rPr b="1"/>
              <a:t>.</a:t>
            </a:r>
          </a:p>
        </p:txBody>
      </p:sp>
      <p:pic>
        <p:nvPicPr>
          <p:cNvPr descr="6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371600" y="1193800"/>
            <a:ext cx="64008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№7</a:t>
            </a:r>
          </a:p>
        </p:txBody>
      </p:sp>
      <p:pic>
        <p:nvPicPr>
          <p:cNvPr descr="7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787400" y="1193800"/>
            <a:ext cx="7569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7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Убедимся, что в терминале приглашение отображается в виде </a:t>
            </a:r>
            <a:r>
              <a:rPr b="1">
                <a:latin typeface="Courier"/>
              </a:rPr>
              <a:t>user@server.user.net</a:t>
            </a:r>
            <a:r>
              <a:rPr b="1"/>
              <a:t> на сервере и </a:t>
            </a:r>
            <a:r>
              <a:rPr b="1">
                <a:latin typeface="Courier"/>
              </a:rPr>
              <a:t>user@client.user.net</a:t>
            </a:r>
            <a:r>
              <a:rPr b="1"/>
              <a:t> на клиенте (рис. @fig-8).</a:t>
            </a:r>
          </a:p>
        </p:txBody>
      </p:sp>
      <p:pic>
        <p:nvPicPr>
          <p:cNvPr descr="8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60500"/>
            <a:ext cx="8229600" cy="2349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8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№9</a:t>
            </a:r>
          </a:p>
        </p:txBody>
      </p:sp>
      <p:pic>
        <p:nvPicPr>
          <p:cNvPr descr="9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930400" y="1193800"/>
            <a:ext cx="5283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9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№10</a:t>
            </a:r>
          </a:p>
        </p:txBody>
      </p:sp>
      <p:pic>
        <p:nvPicPr>
          <p:cNvPr descr="10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25700" y="1193800"/>
            <a:ext cx="4292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10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№11</a:t>
            </a:r>
          </a:p>
        </p:txBody>
      </p:sp>
      <p:pic>
        <p:nvPicPr>
          <p:cNvPr descr="1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743200" y="1193800"/>
            <a:ext cx="36576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11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№12</a:t>
            </a:r>
          </a:p>
        </p:txBody>
      </p:sp>
      <p:pic>
        <p:nvPicPr>
          <p:cNvPr descr="1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857500" y="1193800"/>
            <a:ext cx="342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12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Этап выполнения работы №13</a:t>
            </a:r>
          </a:p>
        </p:txBody>
      </p:sp>
      <p:pic>
        <p:nvPicPr>
          <p:cNvPr descr="1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22400" y="1193800"/>
            <a:ext cx="6299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Этап 13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Выводы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В ходе выполнения лабораторной работы были приобретены практические навыки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Спасибо за внимание!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Вопросы?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№01</dc:title>
  <dc:creator>Талебу Тенке Франк Устон</dc:creator>
  <cp:keywords/>
  <dcterms:created xsi:type="dcterms:W3CDTF">2026-03-18T09:29:45Z</dcterms:created>
  <dcterms:modified xsi:type="dcterms:W3CDTF">2026-03-18T09:29:45Z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spectratio">
    <vt:lpwstr>169</vt:lpwstr>
  </property>
  <property fmtid="{D5CDD505-2E9C-101B-9397-08002B2CF9AE}" pid="3" name="classoption">
    <vt:lpwstr>aspectratio=169</vt:lpwstr>
  </property>
  <property fmtid="{D5CDD505-2E9C-101B-9397-08002B2CF9AE}" pid="4" name="date">
    <vt:lpwstr>2025</vt:lpwstr>
  </property>
  <property fmtid="{D5CDD505-2E9C-101B-9397-08002B2CF9AE}" pid="5" name="institute">
    <vt:lpwstr>Российский университет дружбы народов</vt:lpwstr>
  </property>
</Properties>
</file>