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170" r:id="rId1"/>
  </p:sldMasterIdLst>
  <p:sldIdLst>
    <p:sldId id="256" r:id="rId2"/>
    <p:sldId id="257" r:id="rId3"/>
    <p:sldId id="294" r:id="rId4"/>
    <p:sldId id="295" r:id="rId5"/>
    <p:sldId id="296" r:id="rId6"/>
    <p:sldId id="297" r:id="rId7"/>
    <p:sldId id="298" r:id="rId8"/>
    <p:sldId id="299" r:id="rId9"/>
    <p:sldId id="300" r:id="rId10"/>
    <p:sldId id="301" r:id="rId11"/>
    <p:sldId id="278" r:id="rId12"/>
    <p:sldId id="279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308" autoAdjust="0"/>
    <p:restoredTop sz="94660"/>
  </p:normalViewPr>
  <p:slideViewPr>
    <p:cSldViewPr snapToGrid="0">
      <p:cViewPr varScale="1">
        <p:scale>
          <a:sx n="60" d="100"/>
          <a:sy n="60" d="100"/>
        </p:scale>
        <p:origin x="90" y="10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6934" y="0"/>
            <a:ext cx="12231160" cy="6856214"/>
            <a:chOff x="-16934" y="0"/>
            <a:chExt cx="12231160" cy="6856214"/>
          </a:xfrm>
        </p:grpSpPr>
        <p:pic>
          <p:nvPicPr>
            <p:cNvPr id="16" name="Picture 15" descr="HD-PanelTitle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26" name="Rectangle 25"/>
            <p:cNvSpPr/>
            <p:nvPr/>
          </p:nvSpPr>
          <p:spPr>
            <a:xfrm>
              <a:off x="2328332" y="1540931"/>
              <a:ext cx="7543802" cy="3835401"/>
            </a:xfrm>
            <a:prstGeom prst="rect">
              <a:avLst/>
            </a:prstGeom>
            <a:noFill/>
            <a:ln w="15875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7" name="Picture 16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6934" y="3147609"/>
              <a:ext cx="2478024" cy="612648"/>
            </a:xfrm>
            <a:prstGeom prst="rect">
              <a:avLst/>
            </a:prstGeom>
          </p:spPr>
        </p:pic>
        <p:pic>
          <p:nvPicPr>
            <p:cNvPr id="20" name="Picture 19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9736202" y="3147609"/>
              <a:ext cx="2478024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92398" y="1871131"/>
            <a:ext cx="6815669" cy="1515533"/>
          </a:xfrm>
        </p:spPr>
        <p:txBody>
          <a:bodyPr anchor="b">
            <a:noAutofit/>
          </a:bodyPr>
          <a:lstStyle>
            <a:lvl1pPr algn="ctr">
              <a:defRPr sz="54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2398" y="3657597"/>
            <a:ext cx="6815669" cy="1320802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83232" y="5037663"/>
            <a:ext cx="897467" cy="279400"/>
          </a:xfrm>
        </p:spPr>
        <p:txBody>
          <a:bodyPr/>
          <a:lstStyle/>
          <a:p>
            <a:fld id="{4CC878A7-58A7-444C-A4BB-A4A99FC67A32}" type="datetimeFigureOut">
              <a:rPr lang="ru-RU" smtClean="0"/>
              <a:t>13.03.2026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92397" y="5037663"/>
            <a:ext cx="5214635" cy="279400"/>
          </a:xfrm>
        </p:spPr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56900" y="5037663"/>
            <a:ext cx="551167" cy="279400"/>
          </a:xfrm>
        </p:spPr>
        <p:txBody>
          <a:bodyPr/>
          <a:lstStyle/>
          <a:p>
            <a:fld id="{EE018565-FECB-4926-8C86-4ADEDA2D2720}" type="slidenum">
              <a:rPr lang="ru-RU" smtClean="0"/>
              <a:t>‹#›</a:t>
            </a:fld>
            <a:endParaRPr lang="ru-RU"/>
          </a:p>
        </p:txBody>
      </p:sp>
      <p:cxnSp>
        <p:nvCxnSpPr>
          <p:cNvPr id="15" name="Straight Connector 14"/>
          <p:cNvCxnSpPr/>
          <p:nvPr/>
        </p:nvCxnSpPr>
        <p:spPr>
          <a:xfrm>
            <a:off x="2692399" y="3522131"/>
            <a:ext cx="681566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379286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C878A7-58A7-444C-A4BB-A4A99FC67A32}" type="datetimeFigureOut">
              <a:rPr lang="ru-RU" smtClean="0"/>
              <a:t>13.03.2026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018565-FECB-4926-8C86-4ADEDA2D272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46903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5069" y="1752606"/>
            <a:ext cx="8158688" cy="1822514"/>
          </a:xfrm>
        </p:spPr>
        <p:txBody>
          <a:bodyPr anchor="b">
            <a:normAutofit/>
          </a:bodyPr>
          <a:lstStyle>
            <a:lvl1pPr algn="ctr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15067" y="3846051"/>
            <a:ext cx="8158690" cy="954547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C878A7-58A7-444C-A4BB-A4A99FC67A32}" type="datetimeFigureOut">
              <a:rPr lang="ru-RU" smtClean="0"/>
              <a:t>13.03.2026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018565-FECB-4926-8C86-4ADEDA2D2720}" type="slidenum">
              <a:rPr lang="ru-RU" smtClean="0"/>
              <a:t>‹#›</a:t>
            </a:fld>
            <a:endParaRPr lang="ru-RU"/>
          </a:p>
        </p:txBody>
      </p:sp>
      <p:cxnSp>
        <p:nvCxnSpPr>
          <p:cNvPr id="16" name="Straight Connector 15"/>
          <p:cNvCxnSpPr/>
          <p:nvPr/>
        </p:nvCxnSpPr>
        <p:spPr>
          <a:xfrm>
            <a:off x="2012723" y="3710585"/>
            <a:ext cx="8163380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104107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8448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1344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C878A7-58A7-444C-A4BB-A4A99FC67A32}" type="datetimeFigureOut">
              <a:rPr lang="ru-RU" smtClean="0"/>
              <a:t>13.03.2026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018565-FECB-4926-8C86-4ADEDA2D272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910160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540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067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067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C878A7-58A7-444C-A4BB-A4A99FC67A32}" type="datetimeFigureOut">
              <a:rPr lang="ru-RU" smtClean="0"/>
              <a:t>13.03.2026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018565-FECB-4926-8C86-4ADEDA2D2720}" type="slidenum">
              <a:rPr lang="ru-RU" smtClean="0"/>
              <a:t>‹#›</a:t>
            </a:fld>
            <a:endParaRPr lang="ru-RU"/>
          </a:p>
        </p:txBody>
      </p:sp>
      <p:cxnSp>
        <p:nvCxnSpPr>
          <p:cNvPr id="18" name="Straight Connector 1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11522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C878A7-58A7-444C-A4BB-A4A99FC67A32}" type="datetimeFigureOut">
              <a:rPr lang="ru-RU" smtClean="0"/>
              <a:t>13.03.2026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018565-FECB-4926-8C86-4ADEDA2D2720}" type="slidenum">
              <a:rPr lang="ru-RU" smtClean="0"/>
              <a:t>‹#›</a:t>
            </a:fld>
            <a:endParaRPr lang="ru-RU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250380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C878A7-58A7-444C-A4BB-A4A99FC67A32}" type="datetimeFigureOut">
              <a:rPr lang="ru-RU" smtClean="0"/>
              <a:t>13.03.2026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018565-FECB-4926-8C86-4ADEDA2D272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972134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3811" y="1388534"/>
            <a:ext cx="3718455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8668" y="982131"/>
            <a:ext cx="5469466" cy="4893735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3811" y="3031065"/>
            <a:ext cx="3718455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C878A7-58A7-444C-A4BB-A4A99FC67A32}" type="datetimeFigureOut">
              <a:rPr lang="ru-RU" smtClean="0"/>
              <a:t>13.03.2026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018565-FECB-4926-8C86-4ADEDA2D2720}" type="slidenum">
              <a:rPr lang="ru-RU" smtClean="0"/>
              <a:t>‹#›</a:t>
            </a:fld>
            <a:endParaRPr lang="ru-RU"/>
          </a:p>
        </p:txBody>
      </p:sp>
      <p:cxnSp>
        <p:nvCxnSpPr>
          <p:cNvPr id="16" name="Straight Connector 15"/>
          <p:cNvCxnSpPr/>
          <p:nvPr/>
        </p:nvCxnSpPr>
        <p:spPr>
          <a:xfrm>
            <a:off x="1396169" y="2912533"/>
            <a:ext cx="35144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240639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399" y="1883832"/>
            <a:ext cx="6241816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094831" y="1041400"/>
            <a:ext cx="3063347" cy="4775200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399" y="3255432"/>
            <a:ext cx="6241816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C878A7-58A7-444C-A4BB-A4A99FC67A32}" type="datetimeFigureOut">
              <a:rPr lang="ru-RU" smtClean="0"/>
              <a:t>13.03.2026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018565-FECB-4926-8C86-4ADEDA2D272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600425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4815415"/>
            <a:ext cx="9609666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41427" y="1041399"/>
            <a:ext cx="10105972" cy="33358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401" y="5382153"/>
            <a:ext cx="9609666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C878A7-58A7-444C-A4BB-A4A99FC67A32}" type="datetimeFigureOut">
              <a:rPr lang="ru-RU" smtClean="0"/>
              <a:t>13.03.2026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018565-FECB-4926-8C86-4ADEDA2D272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860912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3868" y="982132"/>
            <a:ext cx="9592732" cy="2954868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03868" y="4343399"/>
            <a:ext cx="9592732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C878A7-58A7-444C-A4BB-A4A99FC67A32}" type="datetimeFigureOut">
              <a:rPr lang="ru-RU" smtClean="0"/>
              <a:t>13.03.2026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018565-FECB-4926-8C86-4ADEDA2D2720}" type="slidenum">
              <a:rPr lang="ru-RU" smtClean="0"/>
              <a:t>‹#›</a:t>
            </a:fld>
            <a:endParaRPr lang="ru-RU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1151866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584200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20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343399"/>
            <a:ext cx="9609666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C878A7-58A7-444C-A4BB-A4A99FC67A32}" type="datetimeFigureOut">
              <a:rPr lang="ru-RU" smtClean="0"/>
              <a:t>13.03.2026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018565-FECB-4926-8C86-4ADEDA2D2720}" type="slidenum">
              <a:rPr lang="ru-RU" smtClean="0"/>
              <a:t>‹#›</a:t>
            </a:fld>
            <a:endParaRPr lang="ru-RU"/>
          </a:p>
        </p:txBody>
      </p:sp>
      <p:sp>
        <p:nvSpPr>
          <p:cNvPr id="14" name="TextBox 13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267" y="282787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0420067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3308581"/>
            <a:ext cx="960966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777381"/>
            <a:ext cx="960966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C878A7-58A7-444C-A4BB-A4A99FC67A32}" type="datetimeFigureOut">
              <a:rPr lang="ru-RU" smtClean="0"/>
              <a:t>13.03.2026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018565-FECB-4926-8C86-4ADEDA2D272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479548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9312"/>
            <a:ext cx="9609668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529667"/>
            <a:ext cx="9609668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C878A7-58A7-444C-A4BB-A4A99FC67A32}" type="datetimeFigureOut">
              <a:rPr lang="ru-RU" smtClean="0"/>
              <a:t>13.03.2026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018565-FECB-4926-8C86-4ADEDA2D2720}" type="slidenum">
              <a:rPr lang="ru-RU" smtClean="0"/>
              <a:t>‹#›</a:t>
            </a:fld>
            <a:endParaRPr lang="ru-RU"/>
          </a:p>
        </p:txBody>
      </p:sp>
      <p:sp>
        <p:nvSpPr>
          <p:cNvPr id="12" name="TextBox 11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267" y="25992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4378616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982132"/>
            <a:ext cx="9609666" cy="2243668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0168"/>
            <a:ext cx="9609668" cy="84124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470399"/>
            <a:ext cx="9609670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C878A7-58A7-444C-A4BB-A4A99FC67A32}" type="datetimeFigureOut">
              <a:rPr lang="ru-RU" smtClean="0"/>
              <a:t>13.03.2026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018565-FECB-4926-8C86-4ADEDA2D2720}" type="slidenum">
              <a:rPr lang="ru-RU" smtClean="0"/>
              <a:t>‹#›</a:t>
            </a:fld>
            <a:endParaRPr lang="ru-RU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893819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C878A7-58A7-444C-A4BB-A4A99FC67A32}" type="datetimeFigureOut">
              <a:rPr lang="ru-RU" smtClean="0"/>
              <a:t>13.03.2026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018565-FECB-4926-8C86-4ADEDA2D2720}" type="slidenum">
              <a:rPr lang="ru-RU" smtClean="0"/>
              <a:t>‹#›</a:t>
            </a:fld>
            <a:endParaRPr lang="ru-RU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7287527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9356" y="982131"/>
            <a:ext cx="1890895" cy="489373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398" y="982132"/>
            <a:ext cx="7433025" cy="4893734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C878A7-58A7-444C-A4BB-A4A99FC67A32}" type="datetimeFigureOut">
              <a:rPr lang="ru-RU" smtClean="0"/>
              <a:t>13.03.2026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018565-FECB-4926-8C86-4ADEDA2D2720}" type="slidenum">
              <a:rPr lang="ru-RU" smtClean="0"/>
              <a:t>‹#›</a:t>
            </a:fld>
            <a:endParaRPr lang="ru-RU"/>
          </a:p>
        </p:txBody>
      </p:sp>
      <p:cxnSp>
        <p:nvCxnSpPr>
          <p:cNvPr id="14" name="Straight Connector 13"/>
          <p:cNvCxnSpPr/>
          <p:nvPr/>
        </p:nvCxnSpPr>
        <p:spPr>
          <a:xfrm>
            <a:off x="8863890" y="990600"/>
            <a:ext cx="0" cy="487680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046148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736" y="0"/>
            <a:ext cx="12229962" cy="6856214"/>
            <a:chOff x="-15736" y="0"/>
            <a:chExt cx="12229962" cy="6856214"/>
          </a:xfrm>
        </p:grpSpPr>
        <p:pic>
          <p:nvPicPr>
            <p:cNvPr id="8" name="Picture 7" descr="HD-PanelContent.png"/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5736" y="3153832"/>
              <a:ext cx="77724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1436986" y="3153832"/>
              <a:ext cx="77724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4CC878A7-58A7-444C-A4BB-A4A99FC67A32}" type="datetimeFigureOut">
              <a:rPr lang="ru-RU" smtClean="0"/>
              <a:t>13.03.2026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EE018565-FECB-4926-8C86-4ADEDA2D272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98925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171" r:id="rId1"/>
    <p:sldLayoutId id="2147484172" r:id="rId2"/>
    <p:sldLayoutId id="2147484173" r:id="rId3"/>
    <p:sldLayoutId id="2147484174" r:id="rId4"/>
    <p:sldLayoutId id="2147484175" r:id="rId5"/>
    <p:sldLayoutId id="2147484176" r:id="rId6"/>
    <p:sldLayoutId id="2147484177" r:id="rId7"/>
    <p:sldLayoutId id="2147484178" r:id="rId8"/>
    <p:sldLayoutId id="2147484179" r:id="rId9"/>
    <p:sldLayoutId id="2147484180" r:id="rId10"/>
    <p:sldLayoutId id="2147484181" r:id="rId11"/>
    <p:sldLayoutId id="2147484182" r:id="rId12"/>
    <p:sldLayoutId id="2147484183" r:id="rId13"/>
    <p:sldLayoutId id="2147484184" r:id="rId14"/>
    <p:sldLayoutId id="2147484185" r:id="rId15"/>
    <p:sldLayoutId id="2147484186" r:id="rId16"/>
    <p:sldLayoutId id="2147484187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FAAE3F2-69B3-4871-A0FB-36C44354671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ru-RU" sz="5400" dirty="0"/>
              <a:t>Лабораторная работа №1</a:t>
            </a:r>
            <a:r>
              <a:rPr lang="ru-RU" dirty="0"/>
              <a:t>6</a:t>
            </a:r>
            <a:br>
              <a:rPr lang="ru-RU" sz="5400" dirty="0"/>
            </a:br>
            <a:br>
              <a:rPr lang="ru-RU" sz="5400" dirty="0"/>
            </a:br>
            <a:r>
              <a:rPr lang="ru-RU" sz="2800" dirty="0"/>
              <a:t>Базовая защита от атак типа «</a:t>
            </a:r>
            <a:r>
              <a:rPr lang="ru-RU" sz="2800" dirty="0" err="1"/>
              <a:t>brute</a:t>
            </a:r>
            <a:r>
              <a:rPr lang="ru-RU" sz="2800" dirty="0"/>
              <a:t> </a:t>
            </a:r>
            <a:r>
              <a:rPr lang="ru-RU" sz="2800" dirty="0" err="1"/>
              <a:t>force</a:t>
            </a:r>
            <a:r>
              <a:rPr lang="ru-RU" sz="2800" dirty="0"/>
              <a:t>»</a:t>
            </a:r>
            <a:br>
              <a:rPr lang="ru-RU" sz="5400" dirty="0"/>
            </a:br>
            <a:endParaRPr lang="ru-RU" dirty="0"/>
          </a:p>
        </p:txBody>
      </p:sp>
      <p:sp>
        <p:nvSpPr>
          <p:cNvPr id="6" name="Подзаголовок 2">
            <a:extLst>
              <a:ext uri="{FF2B5EF4-FFF2-40B4-BE49-F238E27FC236}">
                <a16:creationId xmlns:a16="http://schemas.microsoft.com/office/drawing/2014/main" id="{B727881D-3A95-4A07-A64E-B3E9ACC8B5BB}"/>
              </a:ext>
            </a:extLst>
          </p:cNvPr>
          <p:cNvSpPr txBox="1">
            <a:spLocks/>
          </p:cNvSpPr>
          <p:nvPr/>
        </p:nvSpPr>
        <p:spPr>
          <a:xfrm>
            <a:off x="544876" y="3749041"/>
            <a:ext cx="10688176" cy="1539066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77500" lnSpcReduction="20000"/>
          </a:bodyPr>
          <a:lstStyle>
            <a:lvl1pPr marL="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None/>
              <a:defRPr sz="21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None/>
              <a:defRPr sz="20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None/>
              <a:defRPr sz="18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None/>
              <a:defRPr sz="16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>
              <a:tabLst>
                <a:tab pos="3314700" algn="l"/>
                <a:tab pos="3743325" algn="l"/>
              </a:tabLst>
            </a:pPr>
            <a:r>
              <a:rPr lang="ru-RU" sz="24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Студент: Талебу Тенке</a:t>
            </a:r>
          </a:p>
          <a:p>
            <a:pPr>
              <a:tabLst>
                <a:tab pos="3314700" algn="l"/>
                <a:tab pos="3743325" algn="l"/>
              </a:tabLst>
            </a:pPr>
            <a:r>
              <a:rPr lang="ru-RU" sz="2400" b="1" i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ru-RU" sz="24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Группа: </a:t>
            </a:r>
            <a:r>
              <a:rPr lang="ru-RU" sz="2400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НФИбд</a:t>
            </a:r>
            <a:r>
              <a:rPr lang="ru-RU" sz="24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02–23</a:t>
            </a:r>
          </a:p>
          <a:p>
            <a:pPr>
              <a:tabLst>
                <a:tab pos="3314700" algn="l"/>
                <a:tab pos="5827395" algn="l"/>
              </a:tabLst>
            </a:pPr>
            <a:endParaRPr lang="ru-RU" sz="2400" b="1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tabLst>
                <a:tab pos="3314700" algn="l"/>
                <a:tab pos="5827395" algn="l"/>
              </a:tabLst>
            </a:pPr>
            <a:r>
              <a:rPr lang="ru-RU" sz="2400" b="1" i="1" u="sng" kern="100" dirty="0"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дисциплина:</a:t>
            </a:r>
            <a:r>
              <a:rPr lang="ru-RU" sz="2400" b="1" kern="100" dirty="0"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  Администрирование сетевых подсистем (Lab </a:t>
            </a:r>
            <a:r>
              <a:rPr lang="en-US" sz="2400" b="1" kern="100" dirty="0"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16</a:t>
            </a:r>
            <a:r>
              <a:rPr lang="ru-RU" sz="2400" kern="100" dirty="0"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)</a:t>
            </a:r>
          </a:p>
          <a:p>
            <a:pPr>
              <a:tabLst>
                <a:tab pos="3314700" algn="l"/>
                <a:tab pos="5827395" algn="l"/>
              </a:tabLst>
            </a:pPr>
            <a:endParaRPr lang="ru-RU" sz="2400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Clr>
                <a:srgbClr val="17365D"/>
              </a:buClr>
              <a:buSzPts val="2000"/>
            </a:pPr>
            <a:endParaRPr lang="ru-RU" sz="2400" b="1" dirty="0">
              <a:latin typeface="Times New Roman" panose="02020603050405020304" pitchFamily="18" charset="0"/>
              <a:ea typeface="Trebuchet MS"/>
              <a:cs typeface="Times New Roman" panose="02020603050405020304" pitchFamily="18" charset="0"/>
              <a:sym typeface="Trebuchet MS"/>
            </a:endParaRPr>
          </a:p>
        </p:txBody>
      </p:sp>
    </p:spTree>
    <p:extLst>
      <p:ext uri="{BB962C8B-B14F-4D97-AF65-F5344CB8AC3E}">
        <p14:creationId xmlns:p14="http://schemas.microsoft.com/office/powerpoint/2010/main" val="7958844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8D5F1DC-FBC9-4826-9394-FEDDF80500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sz="1800" b="0" kern="0" dirty="0">
                <a:solidFill>
                  <a:srgbClr val="00000A"/>
                </a:solidFill>
                <a:effectLst/>
                <a:latin typeface="Times New Roman" panose="02020603050405020304" pitchFamily="18" charset="0"/>
              </a:rPr>
              <a:t>Целью данной работы является получение навыков работы с программным средством </a:t>
            </a:r>
            <a:r>
              <a:rPr lang="en-US" sz="1800" b="0" kern="0" dirty="0">
                <a:solidFill>
                  <a:srgbClr val="00000A"/>
                </a:solidFill>
                <a:effectLst/>
                <a:latin typeface="Times New Roman" panose="02020603050405020304" pitchFamily="18" charset="0"/>
              </a:rPr>
              <a:t>Fail</a:t>
            </a:r>
            <a:r>
              <a:rPr lang="ru-RU" sz="1800" b="0" kern="0" dirty="0">
                <a:solidFill>
                  <a:srgbClr val="00000A"/>
                </a:solidFill>
                <a:effectLst/>
                <a:latin typeface="Times New Roman" panose="02020603050405020304" pitchFamily="18" charset="0"/>
              </a:rPr>
              <a:t>2</a:t>
            </a:r>
            <a:r>
              <a:rPr lang="en-US" sz="1800" b="0" kern="0" dirty="0">
                <a:solidFill>
                  <a:srgbClr val="00000A"/>
                </a:solidFill>
                <a:effectLst/>
                <a:latin typeface="Times New Roman" panose="02020603050405020304" pitchFamily="18" charset="0"/>
              </a:rPr>
              <a:t>ban</a:t>
            </a:r>
            <a:r>
              <a:rPr lang="ru-RU" sz="1800" b="0" kern="0" dirty="0">
                <a:solidFill>
                  <a:srgbClr val="00000A"/>
                </a:solidFill>
                <a:effectLst/>
                <a:latin typeface="Times New Roman" panose="02020603050405020304" pitchFamily="18" charset="0"/>
              </a:rPr>
              <a:t> для обеспечения базовой защиты от атак типа «</a:t>
            </a:r>
            <a:r>
              <a:rPr lang="en-US" sz="1800" b="0" kern="0" dirty="0">
                <a:solidFill>
                  <a:srgbClr val="00000A"/>
                </a:solidFill>
                <a:effectLst/>
                <a:latin typeface="Times New Roman" panose="02020603050405020304" pitchFamily="18" charset="0"/>
              </a:rPr>
              <a:t>brute force</a:t>
            </a:r>
            <a:r>
              <a:rPr lang="ru-RU" sz="1800" b="0" kern="0" dirty="0">
                <a:solidFill>
                  <a:srgbClr val="00000A"/>
                </a:solidFill>
                <a:effectLst/>
                <a:latin typeface="Times New Roman" panose="02020603050405020304" pitchFamily="18" charset="0"/>
              </a:rPr>
              <a:t>».</a:t>
            </a:r>
            <a:endParaRPr lang="fr-FR" sz="1800" b="1" kern="0" dirty="0">
              <a:solidFill>
                <a:srgbClr val="00000A"/>
              </a:solidFill>
              <a:effectLst/>
              <a:latin typeface="Arial" panose="020B0604020202020204" pitchFamily="34" charset="0"/>
            </a:endParaRPr>
          </a:p>
          <a:p>
            <a:endParaRPr lang="fr-FR" dirty="0"/>
          </a:p>
        </p:txBody>
      </p:sp>
      <p:sp>
        <p:nvSpPr>
          <p:cNvPr id="9" name="Заголовок 1">
            <a:extLst>
              <a:ext uri="{FF2B5EF4-FFF2-40B4-BE49-F238E27FC236}">
                <a16:creationId xmlns:a16="http://schemas.microsoft.com/office/drawing/2014/main" id="{FCFC92E1-8A1D-4DC7-8F94-BA8395F5E9D9}"/>
              </a:ext>
            </a:extLst>
          </p:cNvPr>
          <p:cNvSpPr txBox="1">
            <a:spLocks/>
          </p:cNvSpPr>
          <p:nvPr/>
        </p:nvSpPr>
        <p:spPr>
          <a:xfrm>
            <a:off x="737756" y="1168978"/>
            <a:ext cx="10550058" cy="1150220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 cap="none">
                <a:ln w="3175" cmpd="sng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ru-RU" sz="5400" dirty="0"/>
              <a:t>Цель работы</a:t>
            </a:r>
          </a:p>
        </p:txBody>
      </p:sp>
    </p:spTree>
    <p:extLst>
      <p:ext uri="{BB962C8B-B14F-4D97-AF65-F5344CB8AC3E}">
        <p14:creationId xmlns:p14="http://schemas.microsoft.com/office/powerpoint/2010/main" val="2656830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Рисунок 9" descr="Изображение выглядит как текст, снимок экрана, меню, компьютер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A2BE4272-64C9-725A-90C5-661038668C4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75942" y="1466576"/>
            <a:ext cx="7640116" cy="39248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66407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556333-FB10-4B70-C9A8-F02184CBB4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 descr="Изображение выглядит как текст, снимок экрана, программное обеспечение, Шрифт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EDFF1E00-85F2-F476-150B-F7BCEF4220A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18810" y="1861919"/>
            <a:ext cx="7554379" cy="31341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42053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2E2B6A-39DE-BCA2-7246-22BD1B0A55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 descr="Изображение выглядит как текст, снимок экрана, программное обеспечение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DA28A4CA-79ED-1E54-8CE2-BC579AD2A95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79532" y="845401"/>
            <a:ext cx="8630854" cy="4315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93642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502C31-AB92-FFC4-EC71-D5148DDBF5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 descr="Изображение выглядит как текст, снимок экрана, программное обеспечение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E8DBEF2C-9391-7329-98D0-F6C72B9AD82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10214" y="487817"/>
            <a:ext cx="7371572" cy="58823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413445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0FCED0-1492-A76F-F947-5EB4734112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 descr="Изображение выглядит как текст, электроника, снимок экрана, программное обеспечение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328849A2-A9E9-65EF-A218-3A23ECCAA9C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75942" y="499518"/>
            <a:ext cx="7181209" cy="62589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639402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FC3B8D-13ED-B23D-8F5F-06C0CE357F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 descr="Изображение выглядит как текст, снимок экрана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D0F63201-EC38-EE73-A2E2-93398CE4E64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71046" y="2409682"/>
            <a:ext cx="8649907" cy="20386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012059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D5AD3B-E32C-7BE7-7F4C-6ECC6ABB76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 descr="Изображение выглядит как текст, снимок экрана, программное обеспечение, Шрифт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B2471E20-F06F-43C0-A356-6516135B510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9154" y="1006642"/>
            <a:ext cx="10873692" cy="48447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565280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A02672-24F8-650B-17B0-513A180374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 descr="Изображение выглядит как текст, программное обеспечение, веб-страница, Веб-сайт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96DC7AC2-73C8-5925-B3E5-BF126CEBF3D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1029" y="1584157"/>
            <a:ext cx="10889942" cy="36896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535818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A1DFA2F-E7A0-40CF-B898-6777106EEB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Вывод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1D64AC6-A604-401E-8729-373F18B34F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В ходе выполнения лабораторной работы были получены навыки работы с программным средством </a:t>
            </a:r>
            <a:r>
              <a:rPr lang="en-US" dirty="0"/>
              <a:t>Fail</a:t>
            </a:r>
            <a:r>
              <a:rPr lang="ru-RU" dirty="0"/>
              <a:t>2</a:t>
            </a:r>
            <a:r>
              <a:rPr lang="en-US" dirty="0"/>
              <a:t>ban</a:t>
            </a:r>
            <a:r>
              <a:rPr lang="ru-RU" dirty="0"/>
              <a:t> для обеспечения базовой защиты от атак типа «</a:t>
            </a:r>
            <a:r>
              <a:rPr lang="en-US" dirty="0"/>
              <a:t>brute force</a:t>
            </a:r>
            <a:r>
              <a:rPr lang="ru-RU" dirty="0"/>
              <a:t>».</a:t>
            </a:r>
            <a:endParaRPr lang="ru-RU" b="1" dirty="0"/>
          </a:p>
        </p:txBody>
      </p:sp>
    </p:spTree>
    <p:extLst>
      <p:ext uri="{BB962C8B-B14F-4D97-AF65-F5344CB8AC3E}">
        <p14:creationId xmlns:p14="http://schemas.microsoft.com/office/powerpoint/2010/main" val="412782199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37C74B4F-E931-4F60-A5AD-DB108BDAC7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86454" y="2939528"/>
            <a:ext cx="10554574" cy="363651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4800" dirty="0"/>
              <a:t>Спасибо за внимание!</a:t>
            </a:r>
          </a:p>
        </p:txBody>
      </p:sp>
    </p:spTree>
    <p:extLst>
      <p:ext uri="{BB962C8B-B14F-4D97-AF65-F5344CB8AC3E}">
        <p14:creationId xmlns:p14="http://schemas.microsoft.com/office/powerpoint/2010/main" val="3351227754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ganic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Organic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DAC20F1-423D-49E2-BD0B-50532748BAD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660</TotalTime>
  <Words>91</Words>
  <Application>Microsoft Office PowerPoint</Application>
  <PresentationFormat>Широкоэкранный</PresentationFormat>
  <Paragraphs>10</Paragraphs>
  <Slides>12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12</vt:i4>
      </vt:variant>
    </vt:vector>
  </HeadingPairs>
  <TitlesOfParts>
    <vt:vector size="16" baseType="lpstr">
      <vt:lpstr>Arial</vt:lpstr>
      <vt:lpstr>Garamond</vt:lpstr>
      <vt:lpstr>Times New Roman</vt:lpstr>
      <vt:lpstr>Organic</vt:lpstr>
      <vt:lpstr>Лабораторная работа №16  Базовая защита от атак типа «brute force» 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Вывод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Лабораторная работа №1</dc:title>
  <dc:creator>claudely</dc:creator>
  <cp:lastModifiedBy>Талебу Тенке Франк Устон</cp:lastModifiedBy>
  <cp:revision>460</cp:revision>
  <dcterms:created xsi:type="dcterms:W3CDTF">2022-11-11T17:59:21Z</dcterms:created>
  <dcterms:modified xsi:type="dcterms:W3CDTF">2026-03-12T21:26:23Z</dcterms:modified>
</cp:coreProperties>
</file>