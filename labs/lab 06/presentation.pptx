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70" r:id="rId1"/>
  </p:sldMasterIdLst>
  <p:sldIdLst>
    <p:sldId id="256" r:id="rId2"/>
    <p:sldId id="257" r:id="rId3"/>
    <p:sldId id="288" r:id="rId4"/>
    <p:sldId id="289" r:id="rId5"/>
    <p:sldId id="290" r:id="rId6"/>
    <p:sldId id="291" r:id="rId7"/>
    <p:sldId id="292" r:id="rId8"/>
    <p:sldId id="293" r:id="rId9"/>
    <p:sldId id="294" r:id="rId10"/>
    <p:sldId id="295" r:id="rId11"/>
    <p:sldId id="296" r:id="rId12"/>
    <p:sldId id="278" r:id="rId13"/>
    <p:sldId id="279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07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10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4CC878A7-58A7-444C-A4BB-A4A99FC67A32}" type="datetimeFigureOut">
              <a:rPr lang="ru-RU" smtClean="0"/>
              <a:t>09.03.2026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58150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09.03.2026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04061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09.03.2026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78745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09.03.2026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24214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09.03.2026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8960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09.03.2026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2030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09.03.2026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24002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09.03.2026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72316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09.03.2026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44396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09.03.2026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67661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09.03.2026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22607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09.03.2026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60211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09.03.2026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78947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09.03.2026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61884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09.03.2026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02731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09.03.2026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24331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09.03.2026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18409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4CC878A7-58A7-444C-A4BB-A4A99FC67A32}" type="datetimeFigureOut">
              <a:rPr lang="ru-RU" smtClean="0"/>
              <a:t>09.03.2026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6139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71" r:id="rId1"/>
    <p:sldLayoutId id="2147484172" r:id="rId2"/>
    <p:sldLayoutId id="2147484173" r:id="rId3"/>
    <p:sldLayoutId id="2147484174" r:id="rId4"/>
    <p:sldLayoutId id="2147484175" r:id="rId5"/>
    <p:sldLayoutId id="2147484176" r:id="rId6"/>
    <p:sldLayoutId id="2147484177" r:id="rId7"/>
    <p:sldLayoutId id="2147484178" r:id="rId8"/>
    <p:sldLayoutId id="2147484179" r:id="rId9"/>
    <p:sldLayoutId id="2147484180" r:id="rId10"/>
    <p:sldLayoutId id="2147484181" r:id="rId11"/>
    <p:sldLayoutId id="2147484182" r:id="rId12"/>
    <p:sldLayoutId id="2147484183" r:id="rId13"/>
    <p:sldLayoutId id="2147484184" r:id="rId14"/>
    <p:sldLayoutId id="2147484185" r:id="rId15"/>
    <p:sldLayoutId id="2147484186" r:id="rId16"/>
    <p:sldLayoutId id="214748418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AAE3F2-69B3-4871-A0FB-36C44354671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sz="5400" dirty="0"/>
              <a:t>Лабораторная работа №6</a:t>
            </a:r>
            <a:br>
              <a:rPr lang="ru-RU" sz="5400" dirty="0"/>
            </a:br>
            <a:br>
              <a:rPr lang="ru-RU" sz="5400" dirty="0"/>
            </a:br>
            <a:r>
              <a:rPr lang="ru-RU" sz="2800" dirty="0"/>
              <a:t>Установка и настройка системы управления базами данных </a:t>
            </a:r>
            <a:r>
              <a:rPr lang="ru-RU" sz="2800" dirty="0" err="1"/>
              <a:t>MariaDB</a:t>
            </a:r>
            <a:r>
              <a:rPr lang="en-US" sz="2700" dirty="0"/>
              <a:t> </a:t>
            </a:r>
            <a:br>
              <a:rPr lang="ru-RU" sz="5400" dirty="0"/>
            </a:b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8A37A2E-3D2F-4507-BA4F-737E764D9E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2472" y="3931958"/>
            <a:ext cx="10572000" cy="1421612"/>
          </a:xfrm>
        </p:spPr>
        <p:txBody>
          <a:bodyPr>
            <a:normAutofit fontScale="85000" lnSpcReduction="20000"/>
          </a:bodyPr>
          <a:lstStyle/>
          <a:p>
            <a:pPr algn="ctr">
              <a:tabLst>
                <a:tab pos="3314700" algn="l"/>
                <a:tab pos="3743325" algn="l"/>
              </a:tabLst>
            </a:pPr>
            <a:r>
              <a:rPr lang="ru-RU" sz="20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Студент: </a:t>
            </a:r>
            <a:r>
              <a:rPr lang="ru-RU" sz="2000" b="1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ТалебуТенке</a:t>
            </a:r>
            <a:endParaRPr lang="ru-RU" sz="2000" b="1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tabLst>
                <a:tab pos="3314700" algn="l"/>
                <a:tab pos="3743325" algn="l"/>
              </a:tabLst>
            </a:pPr>
            <a:r>
              <a:rPr lang="ru-RU" sz="2000" b="1" i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sz="20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Группа: </a:t>
            </a:r>
            <a:r>
              <a:rPr lang="ru-RU" sz="2000" b="1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НФИбд</a:t>
            </a:r>
            <a:r>
              <a:rPr lang="ru-RU" sz="20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02–23</a:t>
            </a:r>
          </a:p>
          <a:p>
            <a:pPr algn="ctr">
              <a:tabLst>
                <a:tab pos="3314700" algn="l"/>
                <a:tab pos="5827395" algn="l"/>
              </a:tabLst>
            </a:pPr>
            <a:endParaRPr lang="ru-RU" sz="2000" b="1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tabLst>
                <a:tab pos="3314700" algn="l"/>
                <a:tab pos="5827395" algn="l"/>
              </a:tabLst>
            </a:pPr>
            <a:r>
              <a:rPr lang="ru-RU" sz="2000" b="1" i="1" u="sng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дисциплина:</a:t>
            </a:r>
            <a:r>
              <a:rPr lang="ru-RU" sz="2000" b="1" i="0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 Администрирование сетевых подсистем</a:t>
            </a:r>
            <a:r>
              <a:rPr lang="ru-RU" sz="2000" b="1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ru-RU" sz="2000" b="1" kern="100" dirty="0">
                <a:solidFill>
                  <a:schemeClr val="tx1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(Lab </a:t>
            </a:r>
            <a:r>
              <a:rPr lang="en-US" sz="2000" b="1" kern="100" dirty="0">
                <a:solidFill>
                  <a:schemeClr val="tx1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6</a:t>
            </a:r>
            <a:r>
              <a:rPr lang="ru-RU" sz="2000" kern="100" dirty="0">
                <a:solidFill>
                  <a:schemeClr val="tx1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)</a:t>
            </a:r>
            <a:endParaRPr lang="ru-RU" sz="2000" kern="1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  <a:p>
            <a:pPr algn="ctr">
              <a:tabLst>
                <a:tab pos="3314700" algn="l"/>
                <a:tab pos="5827395" algn="l"/>
              </a:tabLst>
            </a:pPr>
            <a:endParaRPr lang="ru-RU" sz="20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Clr>
                <a:srgbClr val="17365D"/>
              </a:buClr>
              <a:buSzPts val="2000"/>
            </a:pPr>
            <a:endParaRPr lang="ru-RU" sz="2000" b="1" i="0" u="none" strike="noStrike" cap="none" dirty="0">
              <a:solidFill>
                <a:schemeClr val="tx1"/>
              </a:solidFill>
              <a:latin typeface="Times New Roman" panose="02020603050405020304" pitchFamily="18" charset="0"/>
              <a:ea typeface="Trebuchet MS"/>
              <a:cs typeface="Times New Roman" panose="02020603050405020304" pitchFamily="18" charset="0"/>
              <a:sym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7958844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0616D9-A4D2-4B03-88BB-1678D400B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Цель работы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85CABE-7C6B-4ED5-87EE-BF680E1E2C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indent="0" algn="ctr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ru-RU" sz="2000" b="0" kern="0" dirty="0">
                <a:solidFill>
                  <a:srgbClr val="00000A"/>
                </a:solidFill>
                <a:effectLst/>
                <a:latin typeface="Times New Roman" panose="02020603050405020304" pitchFamily="18" charset="0"/>
              </a:rPr>
              <a:t>Целью данной работы является приобретение практических навыков по установке и конфигурированию системы управления базами данных на примере программного обеспечения </a:t>
            </a:r>
            <a:r>
              <a:rPr lang="en-US" sz="2000" b="0" kern="0" dirty="0">
                <a:solidFill>
                  <a:srgbClr val="00000A"/>
                </a:solidFill>
                <a:effectLst/>
                <a:latin typeface="Times New Roman" panose="02020603050405020304" pitchFamily="18" charset="0"/>
              </a:rPr>
              <a:t>MariaDB</a:t>
            </a:r>
            <a:r>
              <a:rPr lang="ru-RU" sz="2000" b="0" kern="0" dirty="0">
                <a:solidFill>
                  <a:srgbClr val="00000A"/>
                </a:solidFill>
                <a:effectLst/>
                <a:latin typeface="Times New Roman" panose="02020603050405020304" pitchFamily="18" charset="0"/>
              </a:rPr>
              <a:t>.</a:t>
            </a:r>
            <a:endParaRPr lang="fr-FR" sz="2000" b="1" kern="0" dirty="0">
              <a:solidFill>
                <a:srgbClr val="00000A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6830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5066F8AE-A5C7-4B3E-B1DA-D0B624059B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F78E901E-6697-44E3-9533-1457FA4F04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C515452A-514A-4763-9932-37302A8D6D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D0EC146D-CF08-4B34-ADEB-2F0296F98A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E1FBA240-87AB-400A-9292-7DC6F3E552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544958B8-57B6-4B37-8A18-D54A32EC2D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Рисунок 9" descr="Изображение выглядит как текст, снимок экрана, дисплей,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646514E6-7DB0-8CE3-3826-403D29A011D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471" r="1" b="22522"/>
          <a:stretch>
            <a:fillRect/>
          </a:stretch>
        </p:blipFill>
        <p:spPr>
          <a:xfrm>
            <a:off x="486138" y="488137"/>
            <a:ext cx="11227442" cy="5883295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B7E4A740-3A69-42A5-8AC0-3905D518F4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8012" y="609600"/>
            <a:ext cx="10972800" cy="5638800"/>
          </a:xfrm>
          <a:prstGeom prst="rect">
            <a:avLst/>
          </a:prstGeom>
          <a:noFill/>
          <a:ln w="15875" cap="flat">
            <a:solidFill>
              <a:schemeClr val="bg1"/>
            </a:solidFill>
            <a:miter lim="800000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8283C010-53D7-404B-9300-DB1BAE1EAE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128956"/>
            <a:ext cx="12234672" cy="658368"/>
            <a:chOff x="-18288" y="3128956"/>
            <a:chExt cx="12234672" cy="658368"/>
          </a:xfrm>
        </p:grpSpPr>
        <p:sp useBgFill="1">
          <p:nvSpPr>
            <p:cNvPr id="26" name="Rounded Rectangle 21">
              <a:extLst>
                <a:ext uri="{FF2B5EF4-FFF2-40B4-BE49-F238E27FC236}">
                  <a16:creationId xmlns:a16="http://schemas.microsoft.com/office/drawing/2014/main" id="{DFC03671-D6D3-4BA9-AD3E-6ADE11D07C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32303" y="3128956"/>
              <a:ext cx="45720" cy="658368"/>
            </a:xfrm>
            <a:prstGeom prst="roundRect">
              <a:avLst>
                <a:gd name="adj" fmla="val 50000"/>
              </a:avLst>
            </a:prstGeom>
            <a:ln w="9525">
              <a:noFill/>
            </a:ln>
            <a:effectLst>
              <a:innerShdw blurRad="114300">
                <a:prstClr val="black">
                  <a:alpha val="86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endParaRPr>
            </a:p>
          </p:txBody>
        </p:sp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DFD51935-8C23-4BCB-987B-F5AC9E3D94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8288" y="3154680"/>
              <a:ext cx="777240" cy="606425"/>
            </a:xfrm>
            <a:prstGeom prst="rect">
              <a:avLst/>
            </a:prstGeom>
          </p:spPr>
        </p:pic>
        <p:sp useBgFill="1">
          <p:nvSpPr>
            <p:cNvPr id="28" name="Rounded Rectangle 27">
              <a:extLst>
                <a:ext uri="{FF2B5EF4-FFF2-40B4-BE49-F238E27FC236}">
                  <a16:creationId xmlns:a16="http://schemas.microsoft.com/office/drawing/2014/main" id="{72D5A197-23EF-4751-9E72-FEB79910EF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14377" y="3128956"/>
              <a:ext cx="45720" cy="658368"/>
            </a:xfrm>
            <a:prstGeom prst="roundRect">
              <a:avLst>
                <a:gd name="adj" fmla="val 50000"/>
              </a:avLst>
            </a:prstGeom>
            <a:ln w="9525">
              <a:noFill/>
            </a:ln>
            <a:effectLst>
              <a:innerShdw blurRad="114300">
                <a:prstClr val="black">
                  <a:alpha val="86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endParaRPr>
            </a:p>
          </p:txBody>
        </p:sp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5DD7E4D1-EC3E-4109-9647-9E6652A92D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 flipH="1">
              <a:off x="11439144" y="3154680"/>
              <a:ext cx="777240" cy="60642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269728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509FCF-DCC9-15CB-9911-A5C14ABE29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5066F8AE-A5C7-4B3E-B1DA-D0B624059B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F78E901E-6697-44E3-9533-1457FA4F04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515452A-514A-4763-9932-37302A8D6D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D0EC146D-CF08-4B34-ADEB-2F0296F98A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E1FBA240-87AB-400A-9292-7DC6F3E552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544958B8-57B6-4B37-8A18-D54A32EC2D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Рисунок 2" descr="Изображение выглядит как текст, снимок экрана, программное обеспечение, компьютер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3EF53EB-8223-38BD-7C54-0FA72284B8F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" b="36867"/>
          <a:stretch>
            <a:fillRect/>
          </a:stretch>
        </p:blipFill>
        <p:spPr>
          <a:xfrm>
            <a:off x="486138" y="488137"/>
            <a:ext cx="11227442" cy="5883295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B7E4A740-3A69-42A5-8AC0-3905D518F4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8012" y="609600"/>
            <a:ext cx="10972800" cy="5638800"/>
          </a:xfrm>
          <a:prstGeom prst="rect">
            <a:avLst/>
          </a:prstGeom>
          <a:noFill/>
          <a:ln w="15875" cap="flat">
            <a:solidFill>
              <a:schemeClr val="bg1"/>
            </a:solidFill>
            <a:miter lim="800000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283C010-53D7-404B-9300-DB1BAE1EAE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128956"/>
            <a:ext cx="12234672" cy="658368"/>
            <a:chOff x="-18288" y="3128956"/>
            <a:chExt cx="12234672" cy="658368"/>
          </a:xfrm>
        </p:grpSpPr>
        <p:sp useBgFill="1">
          <p:nvSpPr>
            <p:cNvPr id="19" name="Rounded Rectangle 21">
              <a:extLst>
                <a:ext uri="{FF2B5EF4-FFF2-40B4-BE49-F238E27FC236}">
                  <a16:creationId xmlns:a16="http://schemas.microsoft.com/office/drawing/2014/main" id="{DFC03671-D6D3-4BA9-AD3E-6ADE11D07C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32303" y="3128956"/>
              <a:ext cx="45720" cy="658368"/>
            </a:xfrm>
            <a:prstGeom prst="roundRect">
              <a:avLst>
                <a:gd name="adj" fmla="val 50000"/>
              </a:avLst>
            </a:prstGeom>
            <a:ln w="9525">
              <a:noFill/>
            </a:ln>
            <a:effectLst>
              <a:innerShdw blurRad="114300">
                <a:prstClr val="black">
                  <a:alpha val="86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endParaRPr>
            </a:p>
          </p:txBody>
        </p:sp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DFD51935-8C23-4BCB-987B-F5AC9E3D94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8288" y="3154680"/>
              <a:ext cx="777240" cy="606425"/>
            </a:xfrm>
            <a:prstGeom prst="rect">
              <a:avLst/>
            </a:prstGeom>
          </p:spPr>
        </p:pic>
        <p:sp useBgFill="1">
          <p:nvSpPr>
            <p:cNvPr id="21" name="Rounded Rectangle 27">
              <a:extLst>
                <a:ext uri="{FF2B5EF4-FFF2-40B4-BE49-F238E27FC236}">
                  <a16:creationId xmlns:a16="http://schemas.microsoft.com/office/drawing/2014/main" id="{72D5A197-23EF-4751-9E72-FEB79910EF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14377" y="3128956"/>
              <a:ext cx="45720" cy="658368"/>
            </a:xfrm>
            <a:prstGeom prst="roundRect">
              <a:avLst>
                <a:gd name="adj" fmla="val 50000"/>
              </a:avLst>
            </a:prstGeom>
            <a:ln w="9525">
              <a:noFill/>
            </a:ln>
            <a:effectLst>
              <a:innerShdw blurRad="114300">
                <a:prstClr val="black">
                  <a:alpha val="86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endParaRPr>
            </a:p>
          </p:txBody>
        </p:sp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5DD7E4D1-EC3E-4109-9647-9E6652A92D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 flipH="1">
              <a:off x="11439144" y="3154680"/>
              <a:ext cx="777240" cy="60642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77673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B22025-0EBD-3F7A-E29B-59EEA3942F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5066F8AE-A5C7-4B3E-B1DA-D0B624059B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F78E901E-6697-44E3-9533-1457FA4F04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515452A-514A-4763-9932-37302A8D6D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D0EC146D-CF08-4B34-ADEB-2F0296F98A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E1FBA240-87AB-400A-9292-7DC6F3E552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544958B8-57B6-4B37-8A18-D54A32EC2D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Рисунок 4" descr="Изображение выглядит как текст, снимок экрана, программное обеспечение, Мультимедийное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A98D3A4-0584-7B33-8022-50C61402A49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143"/>
          <a:stretch>
            <a:fillRect/>
          </a:stretch>
        </p:blipFill>
        <p:spPr>
          <a:xfrm>
            <a:off x="486138" y="488137"/>
            <a:ext cx="11227442" cy="5883295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B7E4A740-3A69-42A5-8AC0-3905D518F4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8012" y="609600"/>
            <a:ext cx="10972800" cy="5638800"/>
          </a:xfrm>
          <a:prstGeom prst="rect">
            <a:avLst/>
          </a:prstGeom>
          <a:noFill/>
          <a:ln w="15875" cap="flat">
            <a:solidFill>
              <a:schemeClr val="bg1"/>
            </a:solidFill>
            <a:miter lim="800000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283C010-53D7-404B-9300-DB1BAE1EAE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128956"/>
            <a:ext cx="12234672" cy="658368"/>
            <a:chOff x="-18288" y="3128956"/>
            <a:chExt cx="12234672" cy="658368"/>
          </a:xfrm>
        </p:grpSpPr>
        <p:sp useBgFill="1">
          <p:nvSpPr>
            <p:cNvPr id="21" name="Rounded Rectangle 21">
              <a:extLst>
                <a:ext uri="{FF2B5EF4-FFF2-40B4-BE49-F238E27FC236}">
                  <a16:creationId xmlns:a16="http://schemas.microsoft.com/office/drawing/2014/main" id="{DFC03671-D6D3-4BA9-AD3E-6ADE11D07C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32303" y="3128956"/>
              <a:ext cx="45720" cy="658368"/>
            </a:xfrm>
            <a:prstGeom prst="roundRect">
              <a:avLst>
                <a:gd name="adj" fmla="val 50000"/>
              </a:avLst>
            </a:prstGeom>
            <a:ln w="9525">
              <a:noFill/>
            </a:ln>
            <a:effectLst>
              <a:innerShdw blurRad="114300">
                <a:prstClr val="black">
                  <a:alpha val="86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endParaRPr>
            </a:p>
          </p:txBody>
        </p:sp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DFD51935-8C23-4BCB-987B-F5AC9E3D94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8288" y="3154680"/>
              <a:ext cx="777240" cy="606425"/>
            </a:xfrm>
            <a:prstGeom prst="rect">
              <a:avLst/>
            </a:prstGeom>
          </p:spPr>
        </p:pic>
        <p:sp useBgFill="1">
          <p:nvSpPr>
            <p:cNvPr id="23" name="Rounded Rectangle 27">
              <a:extLst>
                <a:ext uri="{FF2B5EF4-FFF2-40B4-BE49-F238E27FC236}">
                  <a16:creationId xmlns:a16="http://schemas.microsoft.com/office/drawing/2014/main" id="{72D5A197-23EF-4751-9E72-FEB79910EF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14377" y="3128956"/>
              <a:ext cx="45720" cy="658368"/>
            </a:xfrm>
            <a:prstGeom prst="roundRect">
              <a:avLst>
                <a:gd name="adj" fmla="val 50000"/>
              </a:avLst>
            </a:prstGeom>
            <a:ln w="9525">
              <a:noFill/>
            </a:ln>
            <a:effectLst>
              <a:innerShdw blurRad="114300">
                <a:prstClr val="black">
                  <a:alpha val="86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endParaRPr>
            </a:p>
          </p:txBody>
        </p:sp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5DD7E4D1-EC3E-4109-9647-9E6652A92D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 flipH="1">
              <a:off x="11439144" y="3154680"/>
              <a:ext cx="777240" cy="60642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051691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EE92AC-9A64-36B6-FF01-089C90144B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>
            <a:extLst>
              <a:ext uri="{FF2B5EF4-FFF2-40B4-BE49-F238E27FC236}">
                <a16:creationId xmlns:a16="http://schemas.microsoft.com/office/drawing/2014/main" id="{B77576E5-E7DB-46C7-B0D9-A0AB187873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A2C244BC-AB19-460B-9A7B-5BAFE9DEAB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C2D7728D-2CB0-4ADE-B6BF-4BA8ED772A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A3E0EDB8-8162-4D16-9521-52415777B0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27060CB3-C139-4548-A73F-74689C9292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33" name="Rectangle 32">
            <a:extLst>
              <a:ext uri="{FF2B5EF4-FFF2-40B4-BE49-F238E27FC236}">
                <a16:creationId xmlns:a16="http://schemas.microsoft.com/office/drawing/2014/main" id="{23E3CED3-8830-45C9-8D6C-F4ECADD4F1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Рисунок 4" descr="Изображение выглядит как текст, снимок экрана, программное обеспечение, Операционная систем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825E7F4-2474-4E40-C380-20407AF7D85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1740" y="666795"/>
            <a:ext cx="5988521" cy="5524411"/>
          </a:xfrm>
          <a:prstGeom prst="rect">
            <a:avLst/>
          </a:prstGeom>
        </p:spPr>
      </p:pic>
      <p:sp>
        <p:nvSpPr>
          <p:cNvPr id="35" name="Rectangle 34">
            <a:extLst>
              <a:ext uri="{FF2B5EF4-FFF2-40B4-BE49-F238E27FC236}">
                <a16:creationId xmlns:a16="http://schemas.microsoft.com/office/drawing/2014/main" id="{66F2D62A-C66C-42DF-8C05-99B0B1A8BE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4611" y="350556"/>
            <a:ext cx="11542779" cy="6156888"/>
          </a:xfrm>
          <a:prstGeom prst="rect">
            <a:avLst/>
          </a:prstGeom>
          <a:noFill/>
          <a:ln w="25400" cap="flat">
            <a:solidFill>
              <a:srgbClr val="009BD1"/>
            </a:solidFill>
            <a:miter lim="800000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344119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091C5E-A104-587F-F753-9666562F23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Изображение выглядит как текст, электроника, снимок экрана,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C00A036-B377-26DF-5B23-6341F30C0D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4890" y="0"/>
            <a:ext cx="7287482" cy="6471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22787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F6E90B-29C2-7BD0-F377-9FAD923394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2C63BCA3-D0FE-2457-5E6B-099B65DEC2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1752" y="571515"/>
            <a:ext cx="9648496" cy="5714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53559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EA4425-7172-2D05-08C0-6E89865865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Изображение выглядит как текст, снимок экрана, программное обеспечение, Мультимедийное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DC24A053-D33C-2715-085F-43B4393326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8250" y="208038"/>
            <a:ext cx="6719170" cy="6441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56971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B6B04D-A7BA-87C2-54E2-7EE635BE98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Изображение выглядит как текст, снимок экрана, программное обеспечение, Мультимедийное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6DA3944-97E4-B510-84AD-A25495E96C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1597" y="295377"/>
            <a:ext cx="7479961" cy="6267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52801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09BB3B-6E24-89CC-A5A9-DA552C962B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Изображение выглядит как текст, снимок экрана, программное обеспечение, компьютер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6A8F908-B7EE-4DCE-817C-17F49F3577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6912" y="130408"/>
            <a:ext cx="7186991" cy="6332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34721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1DFA2F-E7A0-40CF-B898-6777106EE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i="1" dirty="0"/>
              <a:t>Вывод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1D64AC6-A604-401E-8729-373F18B34F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ru-RU" dirty="0"/>
              <a:t>В ходе выполнения лабораторной работы были приобретены практические навыки по установке и конфигурированию системы управления базами данных на примере программного обеспечения </a:t>
            </a:r>
            <a:r>
              <a:rPr lang="ru-RU" dirty="0" err="1"/>
              <a:t>MariaDB</a:t>
            </a:r>
            <a:r>
              <a:rPr lang="ru-RU" dirty="0"/>
              <a:t>.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41278219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37C74B4F-E931-4F60-A5AD-DB108BDAC7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99478" y="3061690"/>
            <a:ext cx="10554574" cy="363651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4800" i="1" dirty="0"/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335122775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410</TotalTime>
  <Words>83</Words>
  <Application>Microsoft Office PowerPoint</Application>
  <PresentationFormat>Широкоэкранный</PresentationFormat>
  <Paragraphs>10</Paragraphs>
  <Slides>13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7" baseType="lpstr">
      <vt:lpstr>Arial</vt:lpstr>
      <vt:lpstr>Garamond</vt:lpstr>
      <vt:lpstr>Times New Roman</vt:lpstr>
      <vt:lpstr>Organic</vt:lpstr>
      <vt:lpstr>Лабораторная работа №6  Установка и настройка системы управления базами данных MariaDB  </vt:lpstr>
      <vt:lpstr>Цель работы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Вывод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Лабораторная работа №1</dc:title>
  <dc:creator>Claudely bansimba</dc:creator>
  <cp:lastModifiedBy>Талебу Тенке Франк Устон</cp:lastModifiedBy>
  <cp:revision>207</cp:revision>
  <dcterms:created xsi:type="dcterms:W3CDTF">2022-11-11T17:59:21Z</dcterms:created>
  <dcterms:modified xsi:type="dcterms:W3CDTF">2026-03-09T11:27:51Z</dcterms:modified>
</cp:coreProperties>
</file>